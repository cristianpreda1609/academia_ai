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7" r:id="rId2"/>
    <p:sldId id="258" r:id="rId3"/>
    <p:sldId id="281" r:id="rId4"/>
    <p:sldId id="259" r:id="rId5"/>
    <p:sldId id="282" r:id="rId6"/>
    <p:sldId id="283" r:id="rId7"/>
    <p:sldId id="269" r:id="rId8"/>
    <p:sldId id="262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65" r:id="rId19"/>
    <p:sldId id="293" r:id="rId20"/>
    <p:sldId id="267" r:id="rId21"/>
  </p:sldIdLst>
  <p:sldSz cx="12192000" cy="6858000"/>
  <p:notesSz cx="6858000" cy="9144000"/>
  <p:embeddedFontLst>
    <p:embeddedFont>
      <p:font typeface="Jost" panose="020B060402020202020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13" autoAdjust="0"/>
    <p:restoredTop sz="94660"/>
  </p:normalViewPr>
  <p:slideViewPr>
    <p:cSldViewPr snapToGrid="0">
      <p:cViewPr>
        <p:scale>
          <a:sx n="86" d="100"/>
          <a:sy n="86" d="100"/>
        </p:scale>
        <p:origin x="408" y="-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752573-5B0F-4812-7B07-18B3B922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CAB259E-AD4C-BA87-E849-D9071DD24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2FE72CF-CB9C-E904-9EA3-3E38D6417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149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5697824D-7111-DB45-FA94-5062F41D8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9318F10-998A-69A2-8D34-C58467C4DE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339FA18B-7E89-0F10-9F7E-D97563F5B6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0583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F901EAF8-D8D9-376F-7BAC-6FB8906F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2:notes">
            <a:extLst>
              <a:ext uri="{FF2B5EF4-FFF2-40B4-BE49-F238E27FC236}">
                <a16:creationId xmlns:a16="http://schemas.microsoft.com/office/drawing/2014/main" id="{E260B831-46ED-C90E-2BCD-48555CF34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32:notes">
            <a:extLst>
              <a:ext uri="{FF2B5EF4-FFF2-40B4-BE49-F238E27FC236}">
                <a16:creationId xmlns:a16="http://schemas.microsoft.com/office/drawing/2014/main" id="{7EF8A0A7-697C-B649-2C29-97CF128F73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569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0A191069-D799-D05B-63BE-37D99D711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F658B3B2-24CD-BDFF-EA72-6B728EED09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663529-8B1E-A75B-956F-BE685DFFF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87648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6746D86-2C0D-2112-C14E-4D23F2A6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>
            <a:extLst>
              <a:ext uri="{FF2B5EF4-FFF2-40B4-BE49-F238E27FC236}">
                <a16:creationId xmlns:a16="http://schemas.microsoft.com/office/drawing/2014/main" id="{67268977-D34F-C93E-D893-176150C91D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>
            <a:extLst>
              <a:ext uri="{FF2B5EF4-FFF2-40B4-BE49-F238E27FC236}">
                <a16:creationId xmlns:a16="http://schemas.microsoft.com/office/drawing/2014/main" id="{3EDE2073-0CC3-CB2D-2EEF-5A13672DB3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4530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106684E-C794-7931-2C64-9FD409A4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172F1FFE-47F9-FD21-EC74-D7DF0852D1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89F231A-28BF-FC40-5EE4-224115D315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58343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075D9A2-78F0-F9A0-9F1B-53439394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61F004AA-3DA7-331A-030C-1D55BF762F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97BD6576-A9A0-307E-7441-1F0CC3F3E5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18828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809068C-FE2C-D197-5A50-0158806B4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791B6F3-4506-9CDF-8E54-AE66158A6B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73169654-8E47-D4EC-1DF1-02AD3984F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993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66825BB-82DC-2E06-E3D2-9E8A11A9D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95D562C6-7EB0-0A6F-8616-54B9B27E91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DF2D7B44-9607-0C0C-35C9-30A6BC594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2707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84AA712-0980-1D19-BF0B-65CD3138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4B4ADFE2-6E4E-EC05-C8C8-3A40E1A1F8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E857EB7-6480-0B03-648B-AD0D4B207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7186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F1296EC-D26C-5A8C-FE16-BC99F3ED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>
            <a:extLst>
              <a:ext uri="{FF2B5EF4-FFF2-40B4-BE49-F238E27FC236}">
                <a16:creationId xmlns:a16="http://schemas.microsoft.com/office/drawing/2014/main" id="{D2010ADE-345D-C397-5685-DC1019D85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1:notes">
            <a:extLst>
              <a:ext uri="{FF2B5EF4-FFF2-40B4-BE49-F238E27FC236}">
                <a16:creationId xmlns:a16="http://schemas.microsoft.com/office/drawing/2014/main" id="{79CAE0E6-24B9-67C9-F1AE-C9C80EE472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7320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9EAA890-F360-0D08-FEFF-C927F143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1568C8E8-C555-0DF9-5169-D2315297B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EDF61FC5-EDBD-8CF4-2A71-F29E4B1439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01284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CF138FC3-4DDF-640E-0641-DA9D6D15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E936B25B-C5F6-5FC0-D628-070221068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DB9722BD-9C9A-4BF0-16CE-BB3F66F5CB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32336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randomuser.me/api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pi.github.com/repos/pallets/flas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okeapi.co/api/v2/pokemon/pikachu" TargetMode="External"/><Relationship Id="rId5" Type="http://schemas.openxmlformats.org/officeDocument/2006/relationships/hyperlink" Target="https://jsonplaceholder.typicode.com/posts" TargetMode="External"/><Relationship Id="rId4" Type="http://schemas.openxmlformats.org/officeDocument/2006/relationships/hyperlink" Target="https://jsonplaceholder.typicode.com/users" TargetMode="External"/><Relationship Id="rId9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3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LUCRUL CU API-URI </a:t>
            </a: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ȘI ASYNC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 este un API?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REST APIs și JSON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Biblioteca Requests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Programare asincronă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AsyncIO și async/await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HTTPX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Apeluri concurente către API-uri</a:t>
            </a:r>
          </a:p>
          <a:p>
            <a:pPr marL="457200" lvl="0" indent="-342900">
              <a:lnSpc>
                <a:spcPct val="150000"/>
              </a:lnSpc>
              <a:buClr>
                <a:schemeClr val="lt1"/>
              </a:buClr>
              <a:buSzPts val="1800"/>
              <a:buFont typeface="Jost"/>
              <a:buChar char="●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AI Data Processing Pipeline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un API?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D24CCE9F-B051-40D8-9F68-AC8742B255D1}"/>
              </a:ext>
            </a:extLst>
          </p:cNvPr>
          <p:cNvSpPr txBox="1"/>
          <p:nvPr/>
        </p:nvSpPr>
        <p:spPr>
          <a:xfrm>
            <a:off x="1036533" y="1644576"/>
            <a:ext cx="85086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API (Application Programming Interface)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permite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comunicarea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între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două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software.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contextul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aplicațiilor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web, un API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primește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cereri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returnează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răspunsuri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conțin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date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sau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rezultate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ale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F75B453B-ACBB-5E29-2216-F44EDDBE3A14}"/>
              </a:ext>
            </a:extLst>
          </p:cNvPr>
          <p:cNvSpPr txBox="1"/>
          <p:nvPr/>
        </p:nvSpPr>
        <p:spPr>
          <a:xfrm>
            <a:off x="1036533" y="2942641"/>
            <a:ext cx="8508600" cy="38317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Exemple</a:t>
            </a:r>
            <a:r>
              <a:rPr lang="en-US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servicii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meteo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servicii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traducere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modele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AI;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baze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date;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interne.</a:t>
            </a:r>
          </a:p>
          <a:p>
            <a:pPr lvl="0">
              <a:lnSpc>
                <a:spcPct val="150000"/>
              </a:lnSpc>
            </a:pP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API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reprezintă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modul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standard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prin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care o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consumă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funcționalități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oferite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o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altă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-3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1" y="597520"/>
            <a:ext cx="12191999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solidFill>
                  <a:schemeClr val="lt1"/>
                </a:solidFill>
                <a:latin typeface="Jost"/>
                <a:ea typeface="Jost"/>
                <a:sym typeface="Jost"/>
              </a:rPr>
              <a:t>Cum </a:t>
            </a:r>
            <a:r>
              <a:rPr lang="en-US" sz="4400" dirty="0" err="1">
                <a:solidFill>
                  <a:schemeClr val="lt1"/>
                </a:solidFill>
                <a:latin typeface="Jost"/>
                <a:ea typeface="Jost"/>
                <a:sym typeface="Jost"/>
              </a:rPr>
              <a:t>comunic</a:t>
            </a:r>
            <a:r>
              <a:rPr lang="ro-RO" sz="4400" dirty="0">
                <a:solidFill>
                  <a:schemeClr val="lt1"/>
                </a:solidFill>
                <a:latin typeface="Jost"/>
                <a:ea typeface="Jost"/>
                <a:sym typeface="Jost"/>
              </a:rPr>
              <a:t>ă aplicațiile?</a:t>
            </a:r>
            <a:endParaRPr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62B1A1F-D910-55CF-AF92-35B454C99BA3}"/>
              </a:ext>
            </a:extLst>
          </p:cNvPr>
          <p:cNvSpPr/>
          <p:nvPr/>
        </p:nvSpPr>
        <p:spPr>
          <a:xfrm>
            <a:off x="2202426" y="2659559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Client</a:t>
            </a:r>
            <a:endParaRPr lang="en-US" sz="1800" dirty="0"/>
          </a:p>
        </p:txBody>
      </p:sp>
      <p:sp>
        <p:nvSpPr>
          <p:cNvPr id="25" name="Google Shape;116;p16">
            <a:extLst>
              <a:ext uri="{FF2B5EF4-FFF2-40B4-BE49-F238E27FC236}">
                <a16:creationId xmlns:a16="http://schemas.microsoft.com/office/drawing/2014/main" id="{3AD8FD24-BB28-E3B8-7271-E160D4691694}"/>
              </a:ext>
            </a:extLst>
          </p:cNvPr>
          <p:cNvSpPr txBox="1"/>
          <p:nvPr/>
        </p:nvSpPr>
        <p:spPr>
          <a:xfrm>
            <a:off x="2202427" y="4721634"/>
            <a:ext cx="778715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 majoritatea cazurilor:</a:t>
            </a:r>
          </a:p>
          <a:p>
            <a:pPr lvl="0"/>
            <a:endParaRPr lang="ro-RO" sz="20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cererile sunt trimise prin HTTP;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datele sunt transmise în format JSON.</a:t>
            </a:r>
            <a:endParaRPr lang="fr-FR" sz="20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C2CEB0-BF9B-9A45-6FBC-5CEFC7141A22}"/>
              </a:ext>
            </a:extLst>
          </p:cNvPr>
          <p:cNvSpPr/>
          <p:nvPr/>
        </p:nvSpPr>
        <p:spPr>
          <a:xfrm>
            <a:off x="8396750" y="2659557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 API</a:t>
            </a:r>
            <a:endParaRPr lang="en-US" sz="18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2E22F09-BC2D-77C0-2019-ABBFAFFFC998}"/>
              </a:ext>
            </a:extLst>
          </p:cNvPr>
          <p:cNvSpPr/>
          <p:nvPr/>
        </p:nvSpPr>
        <p:spPr>
          <a:xfrm>
            <a:off x="5299587" y="1579723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</a:t>
            </a:r>
            <a:endParaRPr lang="en-US" sz="180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B56B8A3-1D5B-EC4B-28D9-8B38E40AB04C}"/>
              </a:ext>
            </a:extLst>
          </p:cNvPr>
          <p:cNvSpPr/>
          <p:nvPr/>
        </p:nvSpPr>
        <p:spPr>
          <a:xfrm>
            <a:off x="5299587" y="3727739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sz="1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Response</a:t>
            </a:r>
            <a:endParaRPr lang="en-US" sz="1800" dirty="0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27E3203-DCC8-9220-396C-49CA05F4AA1B}"/>
              </a:ext>
            </a:extLst>
          </p:cNvPr>
          <p:cNvCxnSpPr>
            <a:cxnSpLocks/>
            <a:endCxn id="53" idx="1"/>
          </p:cNvCxnSpPr>
          <p:nvPr/>
        </p:nvCxnSpPr>
        <p:spPr>
          <a:xfrm flipV="1">
            <a:off x="3795252" y="1964444"/>
            <a:ext cx="1504335" cy="1156443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4A46E27-D20D-1571-09E4-A6F4038C8FDF}"/>
              </a:ext>
            </a:extLst>
          </p:cNvPr>
          <p:cNvCxnSpPr>
            <a:cxnSpLocks/>
          </p:cNvCxnSpPr>
          <p:nvPr/>
        </p:nvCxnSpPr>
        <p:spPr>
          <a:xfrm>
            <a:off x="6967330" y="1963283"/>
            <a:ext cx="1429418" cy="1080994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D1EEE5F-4BDB-C0BA-274D-C2CD880C7BA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6892413" y="3044278"/>
            <a:ext cx="1504337" cy="1068181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5DE14FC-2311-7D4D-4F9A-7D6FBD92C112}"/>
              </a:ext>
            </a:extLst>
          </p:cNvPr>
          <p:cNvCxnSpPr>
            <a:cxnSpLocks/>
            <a:stCxn id="54" idx="1"/>
            <a:endCxn id="2" idx="3"/>
          </p:cNvCxnSpPr>
          <p:nvPr/>
        </p:nvCxnSpPr>
        <p:spPr>
          <a:xfrm flipH="1" flipV="1">
            <a:off x="3795252" y="3044280"/>
            <a:ext cx="1504335" cy="1068180"/>
          </a:xfrm>
          <a:prstGeom prst="straightConnector1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FE0A430-F1E9-510D-7CBA-CF4F5852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F54B7E87-CB32-2583-F028-FC9C9D94E58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6A68A60A-67C9-4537-5FA0-032BC2E1FB7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un REST API?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81AAD8-E090-02A3-D42F-48CCDDF01AC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440EED71-957B-7F62-CF8E-DA5588BF4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17275A3F-E13D-303F-B5B0-B0CA90D9D8C9}"/>
              </a:ext>
            </a:extLst>
          </p:cNvPr>
          <p:cNvSpPr txBox="1"/>
          <p:nvPr/>
        </p:nvSpPr>
        <p:spPr>
          <a:xfrm>
            <a:off x="1036533" y="1644576"/>
            <a:ext cx="85086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REST (Representational State Transfer)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cel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stil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implementare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API-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urilor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web.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Caracteristici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folosește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protocolul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HTTP;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identifică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resurse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prin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URL-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transmite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frecvent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date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format JSON;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utilizează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metode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standard precum GET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POST.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7460EF05-8370-79AD-4016-53704966B2AD}"/>
              </a:ext>
            </a:extLst>
          </p:cNvPr>
          <p:cNvSpPr txBox="1"/>
          <p:nvPr/>
        </p:nvSpPr>
        <p:spPr>
          <a:xfrm>
            <a:off x="1036533" y="3906737"/>
            <a:ext cx="8508600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Exemple de resurse</a:t>
            </a:r>
            <a:r>
              <a:rPr lang="en-US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/users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/products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/orders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/models</a:t>
            </a: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Majoritatea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API-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urilor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moderne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utilizate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aplicațiile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AI sunt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accesate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prin</a:t>
            </a:r>
            <a:r>
              <a:rPr lang="en-GB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REST.</a:t>
            </a: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560110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DEED708-ECA4-BFB3-FB8C-F967706F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5B680B-D2E8-E0C6-6896-08C46C07D9E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D09F9685-6EA6-2E13-F752-9B2C2D583FFA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Metode HTTP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FFBE73C-3CAC-0FF7-8D75-428560B6D04D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6B6A5FC6-28E9-6A10-39BC-E8559E1376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D9542059-3EE9-B0B5-F6F4-DFD18CF237A2}"/>
              </a:ext>
            </a:extLst>
          </p:cNvPr>
          <p:cNvSpPr txBox="1"/>
          <p:nvPr/>
        </p:nvSpPr>
        <p:spPr>
          <a:xfrm>
            <a:off x="1036454" y="1490028"/>
            <a:ext cx="8508600" cy="387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Cele mai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utilizate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metode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HTTP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sunt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GET – citirea informațiilor existente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POST – transmiterea unor date către server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PUT – actualizarea unei resurse existente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DELETE – ștergerea unei resurse</a:t>
            </a: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 această sesiune ne vom concentra pe GET și POST.</a:t>
            </a: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034325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9CB8CB21-9BB9-8B5F-E224-BFC6C57F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>
            <a:extLst>
              <a:ext uri="{FF2B5EF4-FFF2-40B4-BE49-F238E27FC236}">
                <a16:creationId xmlns:a16="http://schemas.microsoft.com/office/drawing/2014/main" id="{14E74FDC-79AA-C1EB-261C-FC8B453FE21E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>
            <a:extLst>
              <a:ext uri="{FF2B5EF4-FFF2-40B4-BE49-F238E27FC236}">
                <a16:creationId xmlns:a16="http://schemas.microsoft.com/office/drawing/2014/main" id="{BB303F52-8BCE-4F32-A155-1749E241BD32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JSON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47" name="Google Shape;147;p20">
            <a:extLst>
              <a:ext uri="{FF2B5EF4-FFF2-40B4-BE49-F238E27FC236}">
                <a16:creationId xmlns:a16="http://schemas.microsoft.com/office/drawing/2014/main" id="{8F8C5CAC-BE62-A3EC-2571-AE8673DE3C10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0" descr="Logo&#10;&#10;Description automatically generated">
            <a:extLst>
              <a:ext uri="{FF2B5EF4-FFF2-40B4-BE49-F238E27FC236}">
                <a16:creationId xmlns:a16="http://schemas.microsoft.com/office/drawing/2014/main" id="{C908C2CE-A521-7681-5778-F34D12B303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>
            <a:extLst>
              <a:ext uri="{FF2B5EF4-FFF2-40B4-BE49-F238E27FC236}">
                <a16:creationId xmlns:a16="http://schemas.microsoft.com/office/drawing/2014/main" id="{C81B4BDF-AC5E-8A50-A7D3-8602A581EAD9}"/>
              </a:ext>
            </a:extLst>
          </p:cNvPr>
          <p:cNvSpPr txBox="1"/>
          <p:nvPr/>
        </p:nvSpPr>
        <p:spPr>
          <a:xfrm>
            <a:off x="1029827" y="2851695"/>
            <a:ext cx="8508600" cy="2154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Avantaje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Ușor de citit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Independent de limbajul de programare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Suportat de majoritatea API-urilor moderne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149;p20">
            <a:extLst>
              <a:ext uri="{FF2B5EF4-FFF2-40B4-BE49-F238E27FC236}">
                <a16:creationId xmlns:a16="http://schemas.microsoft.com/office/drawing/2014/main" id="{33617FC1-9CC6-B829-A4CC-20B2185D69E4}"/>
              </a:ext>
            </a:extLst>
          </p:cNvPr>
          <p:cNvSpPr txBox="1"/>
          <p:nvPr/>
        </p:nvSpPr>
        <p:spPr>
          <a:xfrm>
            <a:off x="1029827" y="1266889"/>
            <a:ext cx="10496515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4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JSON (JavaScript Object Notation) este cel mai utilizat format pentru schimbul de informații între aplicații.</a:t>
            </a:r>
          </a:p>
        </p:txBody>
      </p:sp>
    </p:spTree>
    <p:extLst>
      <p:ext uri="{BB962C8B-B14F-4D97-AF65-F5344CB8AC3E}">
        <p14:creationId xmlns:p14="http://schemas.microsoft.com/office/powerpoint/2010/main" val="126817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Primul API call</a:t>
            </a:r>
            <a:endParaRPr dirty="0"/>
          </a:p>
        </p:txBody>
      </p:sp>
      <p:sp>
        <p:nvSpPr>
          <p:cNvPr id="137" name="Google Shape;137;p19"/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E182262-70C2-5643-1DE2-9CF3F27FC633}"/>
              </a:ext>
            </a:extLst>
          </p:cNvPr>
          <p:cNvSpPr/>
          <p:nvPr/>
        </p:nvSpPr>
        <p:spPr>
          <a:xfrm>
            <a:off x="926731" y="3214236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Send Request</a:t>
            </a:r>
            <a:endParaRPr lang="en-US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35E44F5-F89A-9CEC-ABB5-4EBC0AE949CE}"/>
              </a:ext>
            </a:extLst>
          </p:cNvPr>
          <p:cNvSpPr/>
          <p:nvPr/>
        </p:nvSpPr>
        <p:spPr>
          <a:xfrm>
            <a:off x="6922403" y="3207885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Extract JSON</a:t>
            </a:r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434BF2F-BA96-633C-5EDA-3E127FB8BDFD}"/>
              </a:ext>
            </a:extLst>
          </p:cNvPr>
          <p:cNvSpPr/>
          <p:nvPr/>
        </p:nvSpPr>
        <p:spPr>
          <a:xfrm>
            <a:off x="3873503" y="3207886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Recieve Response</a:t>
            </a:r>
            <a:endParaRPr lang="en-US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9B0B7DD-5CB4-89DD-AB3A-77A503C8A0E0}"/>
              </a:ext>
            </a:extLst>
          </p:cNvPr>
          <p:cNvSpPr/>
          <p:nvPr/>
        </p:nvSpPr>
        <p:spPr>
          <a:xfrm>
            <a:off x="9971303" y="3207885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Use Data</a:t>
            </a:r>
            <a:endParaRPr lang="en-US" b="1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DE707AD8-3090-FBA4-7084-9EA570B0C687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2519557" y="3592607"/>
            <a:ext cx="1353946" cy="635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B3808AC7-EAD4-A8D0-3A88-5FA1765AEEB2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5466329" y="3592606"/>
            <a:ext cx="1456074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4BDE5E05-10DC-50AF-777F-C8BD6DE1BA80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8515229" y="3592606"/>
            <a:ext cx="1456074" cy="1270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94C49B5-1C12-BED1-101A-717EE83AAFEB}"/>
              </a:ext>
            </a:extLst>
          </p:cNvPr>
          <p:cNvSpPr txBox="1"/>
          <p:nvPr/>
        </p:nvSpPr>
        <p:spPr>
          <a:xfrm>
            <a:off x="926731" y="1073439"/>
            <a:ext cx="812781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Biblioteca Requests permite trimiterea rapidă a cererilor HTTP.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Exemplu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response =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requests.get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url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)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5C3EB73-372C-AF45-484E-A22CC71D96CC}"/>
              </a:ext>
            </a:extLst>
          </p:cNvPr>
          <p:cNvSpPr txBox="1"/>
          <p:nvPr/>
        </p:nvSpPr>
        <p:spPr>
          <a:xfrm>
            <a:off x="926731" y="4498246"/>
            <a:ext cx="11492960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 este cea mai simplă bibliotecă pentru consumarea API-urilor REST.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0F9F1F-30AD-C0ED-15B9-6C9497368090}"/>
              </a:ext>
            </a:extLst>
          </p:cNvPr>
          <p:cNvSpPr txBox="1"/>
          <p:nvPr/>
        </p:nvSpPr>
        <p:spPr>
          <a:xfrm>
            <a:off x="1037144" y="2738102"/>
            <a:ext cx="621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Flux</a:t>
            </a:r>
            <a:endParaRPr lang="ro-RO" sz="20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8CF920-B5E2-18D2-48AD-E668D9A4F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127DE371-2E04-2752-F845-01733474602C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D108C394-99C7-BA18-2257-25FC7EB2BB4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Anatomia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98DAE8-0A84-682E-46D1-0B642CBF7383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E7E6D685-8729-EE86-0E00-6F4B68F210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952955DB-D511-7EC9-0245-A1FFF221C4EF}"/>
              </a:ext>
            </a:extLst>
          </p:cNvPr>
          <p:cNvSpPr txBox="1"/>
          <p:nvPr/>
        </p:nvSpPr>
        <p:spPr>
          <a:xfrm>
            <a:off x="1036533" y="1644576"/>
            <a:ext cx="8508600" cy="2031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Un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HTTP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conține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atât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informații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despre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succesul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operației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cât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datele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returnate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server.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Elemente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importante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status code;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headers;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body;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JSON payload.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4E3D518D-11C5-0A64-6D72-4DCBBC5B72D4}"/>
              </a:ext>
            </a:extLst>
          </p:cNvPr>
          <p:cNvSpPr txBox="1"/>
          <p:nvPr/>
        </p:nvSpPr>
        <p:spPr>
          <a:xfrm>
            <a:off x="1036533" y="3906737"/>
            <a:ext cx="8508600" cy="143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Status codes frecvente</a:t>
            </a: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200 – OK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404 – Not Found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500 – Internal Server Error</a:t>
            </a: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420101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6A2C171-1770-D387-6EDA-D3BD2EE9E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A3EEEE4A-CCFB-3231-1765-F8DE2164CFDD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C2260300-E48A-5F82-2836-8538F6589C9E}"/>
              </a:ext>
            </a:extLst>
          </p:cNvPr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31EABA78-7DEB-D9F4-40E7-1F5BCE35DFD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API-urile și Inteligența Artificială</a:t>
            </a:r>
            <a:endParaRPr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5949CFAF-1255-B0D3-9534-70EAB7AC4F6E}"/>
              </a:ext>
            </a:extLst>
          </p:cNvPr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>
            <a:extLst>
              <a:ext uri="{FF2B5EF4-FFF2-40B4-BE49-F238E27FC236}">
                <a16:creationId xmlns:a16="http://schemas.microsoft.com/office/drawing/2014/main" id="{8D3AD062-C50A-6189-AC7C-F6AC7EFD4F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F7CDE89-8F36-9538-A6DC-197AD7A26F87}"/>
              </a:ext>
            </a:extLst>
          </p:cNvPr>
          <p:cNvSpPr/>
          <p:nvPr/>
        </p:nvSpPr>
        <p:spPr>
          <a:xfrm>
            <a:off x="926731" y="2175913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Application</a:t>
            </a:r>
            <a:endParaRPr lang="en-US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1454B4-73FE-6E03-0DC8-53B892DB9220}"/>
              </a:ext>
            </a:extLst>
          </p:cNvPr>
          <p:cNvSpPr/>
          <p:nvPr/>
        </p:nvSpPr>
        <p:spPr>
          <a:xfrm>
            <a:off x="6922403" y="2169562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Generated Result</a:t>
            </a:r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159EEC-701F-488F-4255-3960266ECF2F}"/>
              </a:ext>
            </a:extLst>
          </p:cNvPr>
          <p:cNvSpPr/>
          <p:nvPr/>
        </p:nvSpPr>
        <p:spPr>
          <a:xfrm>
            <a:off x="3873503" y="2169563"/>
            <a:ext cx="1592826" cy="76944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AI API</a:t>
            </a:r>
            <a:endParaRPr lang="en-US" b="1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ABDD6BE3-5819-03AD-AF54-0EE2933D2744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2519557" y="2554284"/>
            <a:ext cx="1353946" cy="6350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08D86E05-C63F-FEC3-A4E7-D0E7B2847B25}"/>
              </a:ext>
            </a:extLst>
          </p:cNvPr>
          <p:cNvCxnSpPr>
            <a:cxnSpLocks/>
            <a:stCxn id="4" idx="3"/>
            <a:endCxn id="3" idx="1"/>
          </p:cNvCxnSpPr>
          <p:nvPr/>
        </p:nvCxnSpPr>
        <p:spPr>
          <a:xfrm flipV="1">
            <a:off x="5466329" y="2554283"/>
            <a:ext cx="1456074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6BBD7F27-97AD-2B3B-F29B-4B5475BEE95B}"/>
              </a:ext>
            </a:extLst>
          </p:cNvPr>
          <p:cNvSpPr txBox="1"/>
          <p:nvPr/>
        </p:nvSpPr>
        <p:spPr>
          <a:xfrm>
            <a:off x="926731" y="1073439"/>
            <a:ext cx="81278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Multe servicii AI sunt accesate exact ca orice alt API.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268EF3-5564-8E84-6299-CC4FF4335D47}"/>
              </a:ext>
            </a:extLst>
          </p:cNvPr>
          <p:cNvSpPr txBox="1"/>
          <p:nvPr/>
        </p:nvSpPr>
        <p:spPr>
          <a:xfrm>
            <a:off x="926731" y="3203172"/>
            <a:ext cx="10582782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Exemple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Chatbots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Clasificare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</a:t>
            </a: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Traducere</a:t>
            </a:r>
            <a:endParaRPr lang="en-US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419100" lvl="0" indent="-34290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Generare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con</a:t>
            </a: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ținut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Din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punct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vedere al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clientului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un model AI este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deseori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doar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endpoint HTTP.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017E5-BDA3-1D22-4878-D3AD80C64E65}"/>
              </a:ext>
            </a:extLst>
          </p:cNvPr>
          <p:cNvSpPr txBox="1"/>
          <p:nvPr/>
        </p:nvSpPr>
        <p:spPr>
          <a:xfrm>
            <a:off x="1037144" y="1699779"/>
            <a:ext cx="6211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Flux</a:t>
            </a:r>
            <a:r>
              <a:rPr lang="ro-RO" sz="20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Tipic</a:t>
            </a:r>
          </a:p>
        </p:txBody>
      </p:sp>
    </p:spTree>
    <p:extLst>
      <p:ext uri="{BB962C8B-B14F-4D97-AF65-F5344CB8AC3E}">
        <p14:creationId xmlns:p14="http://schemas.microsoft.com/office/powerpoint/2010/main" val="359144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D7CA328-FE33-37F8-C1AC-300C035DF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26F94732-8A65-34FF-E14C-051CDC80B1C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2E238C66-A502-73AE-74D9-673FB83D7004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Problema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apelurilor</a:t>
            </a:r>
            <a:r>
              <a:rPr lang="en-US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32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secvențiale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5A32FC7-4542-88BF-8341-DC9D4F7C95C2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8E3F40FA-16C8-6C08-B225-CD26672CB7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446A4CFE-2BAA-D3CA-2718-107D8F44E05F}"/>
              </a:ext>
            </a:extLst>
          </p:cNvPr>
          <p:cNvSpPr txBox="1"/>
          <p:nvPr/>
        </p:nvSpPr>
        <p:spPr>
          <a:xfrm>
            <a:off x="1036533" y="1644576"/>
            <a:ext cx="8508600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presupunem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că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20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avem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10 API calls</a:t>
            </a: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 varianta sincronă, request-ul cu indexul i+1 va începe abia după ce request-ul cu indexul i va fi consumat</a:t>
            </a:r>
            <a:r>
              <a:rPr lang="en-US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Timpul total e dat de durata totală a execuției fiecărui request.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20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Majoritatea timpului este petrecut așteptând răspunsurile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20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160457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77F3E346-32B2-C54E-0BA3-C89A8CF31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2E6EFDDB-2770-B0D4-E72D-B8857587AAE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97FB3EDD-3ADA-E027-5F8C-8733656E91F0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este programarea asincronă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436893BC-EC19-C86A-6AEB-36710CCF6B7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CB886C64-99F1-5C5E-1B08-F6605EE2E4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AD9D7C82-3FD9-905E-B39F-5591F5618D63}"/>
              </a:ext>
            </a:extLst>
          </p:cNvPr>
          <p:cNvSpPr txBox="1"/>
          <p:nvPr/>
        </p:nvSpPr>
        <p:spPr>
          <a:xfrm>
            <a:off x="1036533" y="1644576"/>
            <a:ext cx="8508600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permite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inițierea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fără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aștepta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finalizarea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fiecăreia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înainte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a continua.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loc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blocăm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execuția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b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 -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Wait -&gt; Request -&gt; Wait -&gt; Request -&gt; Wait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Putem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continua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alte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opera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ții cât timp așteptăm răspunsurile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" name="Google Shape;159;p21">
            <a:extLst>
              <a:ext uri="{FF2B5EF4-FFF2-40B4-BE49-F238E27FC236}">
                <a16:creationId xmlns:a16="http://schemas.microsoft.com/office/drawing/2014/main" id="{79774352-6CEF-2E09-2BB0-2212BD3D575C}"/>
              </a:ext>
            </a:extLst>
          </p:cNvPr>
          <p:cNvSpPr txBox="1"/>
          <p:nvPr/>
        </p:nvSpPr>
        <p:spPr>
          <a:xfrm>
            <a:off x="1036533" y="3906737"/>
            <a:ext cx="85086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Beneficiu principal: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Utilizarea mai eficientă a timpului de așteptare.</a:t>
            </a:r>
            <a:endParaRPr lang="en-GB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394979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4F1B-8115-A37B-44AF-ECF504ED7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172E473A-28A1-5B7F-C690-1E45410A45DB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26AF3B6-951F-1F8F-DFE0-E2DB07C5366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F0C935DA-BD7A-4A62-BFC9-46188B6FFAD2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2F3CB303-1EDD-87A9-4894-3B6F0946A4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BBFE7724-A77F-59BC-69AB-F0752CCFF70D}"/>
              </a:ext>
            </a:extLst>
          </p:cNvPr>
          <p:cNvSpPr txBox="1"/>
          <p:nvPr/>
        </p:nvSpPr>
        <p:spPr>
          <a:xfrm>
            <a:off x="1036454" y="1400307"/>
            <a:ext cx="8508600" cy="4616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framework-ul standard din Python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Concepte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importante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event loop;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coroutines;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await;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ask-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concurente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înseamnă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multi-threading;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multi-processing;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utilizarea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multor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CPU-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optim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tip I/O.</a:t>
            </a:r>
          </a:p>
        </p:txBody>
      </p:sp>
    </p:spTree>
    <p:extLst>
      <p:ext uri="{BB962C8B-B14F-4D97-AF65-F5344CB8AC3E}">
        <p14:creationId xmlns:p14="http://schemas.microsoft.com/office/powerpoint/2010/main" val="2050399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805F9E38-0B6B-BA39-E201-395F07A42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8BAF319B-BBA8-3935-D96F-0B469B3B6139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CE2D996-DABB-E040-2778-EAB50F232716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Async și Await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1DCF66A4-0FE9-8C20-D162-6D27ACB669F9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46FF1D5-A5CE-165A-7FAB-5F8ED576EE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5EC058DE-AC30-F0ED-F0B1-029DE1C9FA2F}"/>
              </a:ext>
            </a:extLst>
          </p:cNvPr>
          <p:cNvSpPr txBox="1"/>
          <p:nvPr/>
        </p:nvSpPr>
        <p:spPr>
          <a:xfrm>
            <a:off x="1036454" y="1400307"/>
            <a:ext cx="85086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Două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cuvinte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stau la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baza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programării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asincrone.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" name="Picture 4" descr="A black rectangle with yellow and blue text&#10;&#10;AI-generated content may be incorrect.">
            <a:extLst>
              <a:ext uri="{FF2B5EF4-FFF2-40B4-BE49-F238E27FC236}">
                <a16:creationId xmlns:a16="http://schemas.microsoft.com/office/drawing/2014/main" id="{FE23D092-D06A-B2B7-C5C8-149003625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174" b="32145"/>
          <a:stretch>
            <a:fillRect/>
          </a:stretch>
        </p:blipFill>
        <p:spPr>
          <a:xfrm>
            <a:off x="595637" y="1856359"/>
            <a:ext cx="3257272" cy="585000"/>
          </a:xfrm>
          <a:prstGeom prst="rect">
            <a:avLst/>
          </a:prstGeom>
        </p:spPr>
      </p:pic>
      <p:sp>
        <p:nvSpPr>
          <p:cNvPr id="6" name="Google Shape;159;p21">
            <a:extLst>
              <a:ext uri="{FF2B5EF4-FFF2-40B4-BE49-F238E27FC236}">
                <a16:creationId xmlns:a16="http://schemas.microsoft.com/office/drawing/2014/main" id="{5E94745D-91D8-132C-7771-3F0D7966061E}"/>
              </a:ext>
            </a:extLst>
          </p:cNvPr>
          <p:cNvSpPr txBox="1"/>
          <p:nvPr/>
        </p:nvSpPr>
        <p:spPr>
          <a:xfrm>
            <a:off x="1036454" y="2552207"/>
            <a:ext cx="85086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Definește o funcție asincronă</a:t>
            </a:r>
          </a:p>
        </p:txBody>
      </p:sp>
      <p:pic>
        <p:nvPicPr>
          <p:cNvPr id="8" name="Picture 7" descr="A black rectangle with yellow and blue text&#10;&#10;AI-generated content may be incorrect.">
            <a:extLst>
              <a:ext uri="{FF2B5EF4-FFF2-40B4-BE49-F238E27FC236}">
                <a16:creationId xmlns:a16="http://schemas.microsoft.com/office/drawing/2014/main" id="{34FDD149-7BFD-4DAC-7831-6C2672BBD4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9874" b="30849"/>
          <a:stretch>
            <a:fillRect/>
          </a:stretch>
        </p:blipFill>
        <p:spPr>
          <a:xfrm>
            <a:off x="595637" y="3018893"/>
            <a:ext cx="3201880" cy="628797"/>
          </a:xfrm>
          <a:prstGeom prst="rect">
            <a:avLst/>
          </a:prstGeom>
        </p:spPr>
      </p:pic>
      <p:sp>
        <p:nvSpPr>
          <p:cNvPr id="10" name="Google Shape;159;p21">
            <a:extLst>
              <a:ext uri="{FF2B5EF4-FFF2-40B4-BE49-F238E27FC236}">
                <a16:creationId xmlns:a16="http://schemas.microsoft.com/office/drawing/2014/main" id="{5CA230CC-A71A-7E6D-2B81-5BF563D54B92}"/>
              </a:ext>
            </a:extLst>
          </p:cNvPr>
          <p:cNvSpPr txBox="1"/>
          <p:nvPr/>
        </p:nvSpPr>
        <p:spPr>
          <a:xfrm>
            <a:off x="1036454" y="3809766"/>
            <a:ext cx="8508600" cy="106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suspendă execuția până la finalizarea operației curente.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 definește o operație asincronă, iar await așteaptă rezultatul ei.</a:t>
            </a:r>
          </a:p>
        </p:txBody>
      </p:sp>
    </p:spTree>
    <p:extLst>
      <p:ext uri="{BB962C8B-B14F-4D97-AF65-F5344CB8AC3E}">
        <p14:creationId xmlns:p14="http://schemas.microsoft.com/office/powerpoint/2010/main" val="3909556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71DC3FA-394C-45E7-115E-661787D2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31A1CECB-BDAA-3D06-EAE9-4ADF5F90B202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A366EAC9-77C3-5A37-0A50-9E817B18335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Requests vs HTTPX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974294A-124A-E6D7-A629-42675F9FECF8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5E751C56-4F35-C18F-3F8A-B36BF6D047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CCBE9FAF-B5A2-4963-505F-19E7E8170763}"/>
              </a:ext>
            </a:extLst>
          </p:cNvPr>
          <p:cNvSpPr txBox="1"/>
          <p:nvPr/>
        </p:nvSpPr>
        <p:spPr>
          <a:xfrm>
            <a:off x="1036454" y="1400307"/>
            <a:ext cx="8508600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simplu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foarte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popular;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HTTPX: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API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asemănător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Requests;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suport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;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integrare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excelentă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cu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AsyncIO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Requests →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simple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HTTPX →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aplicații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asincrone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706158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81F1B83C-49A0-D364-13B2-991FC5301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>
            <a:extLst>
              <a:ext uri="{FF2B5EF4-FFF2-40B4-BE49-F238E27FC236}">
                <a16:creationId xmlns:a16="http://schemas.microsoft.com/office/drawing/2014/main" id="{A6C48A05-428A-138A-D298-259615FF10D6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>
            <a:extLst>
              <a:ext uri="{FF2B5EF4-FFF2-40B4-BE49-F238E27FC236}">
                <a16:creationId xmlns:a16="http://schemas.microsoft.com/office/drawing/2014/main" id="{67F4D129-012B-0810-13FE-C973816D9D9F}"/>
              </a:ext>
            </a:extLst>
          </p:cNvPr>
          <p:cNvSpPr/>
          <p:nvPr/>
        </p:nvSpPr>
        <p:spPr>
          <a:xfrm>
            <a:off x="8270613" y="3902683"/>
            <a:ext cx="3478695" cy="15777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9">
            <a:extLst>
              <a:ext uri="{FF2B5EF4-FFF2-40B4-BE49-F238E27FC236}">
                <a16:creationId xmlns:a16="http://schemas.microsoft.com/office/drawing/2014/main" id="{611A27E9-7B9E-792D-5C92-9AA7E455FC6E}"/>
              </a:ext>
            </a:extLst>
          </p:cNvPr>
          <p:cNvSpPr txBox="1"/>
          <p:nvPr/>
        </p:nvSpPr>
        <p:spPr>
          <a:xfrm>
            <a:off x="0" y="327188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Concurență cu Async</a:t>
            </a:r>
            <a:endParaRPr dirty="0"/>
          </a:p>
        </p:txBody>
      </p:sp>
      <p:sp>
        <p:nvSpPr>
          <p:cNvPr id="137" name="Google Shape;137;p19">
            <a:extLst>
              <a:ext uri="{FF2B5EF4-FFF2-40B4-BE49-F238E27FC236}">
                <a16:creationId xmlns:a16="http://schemas.microsoft.com/office/drawing/2014/main" id="{88A02EB6-7497-84A8-48EC-01EF5E773067}"/>
              </a:ext>
            </a:extLst>
          </p:cNvPr>
          <p:cNvSpPr txBox="1"/>
          <p:nvPr/>
        </p:nvSpPr>
        <p:spPr>
          <a:xfrm>
            <a:off x="9545129" y="6567997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9" descr="Logo&#10;&#10;Description automatically generated">
            <a:extLst>
              <a:ext uri="{FF2B5EF4-FFF2-40B4-BE49-F238E27FC236}">
                <a16:creationId xmlns:a16="http://schemas.microsoft.com/office/drawing/2014/main" id="{DB5784C9-1CC9-ACA3-20B1-40B056609A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48" y="6532386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91AF300-34FD-23C2-74DD-218918A46F0A}"/>
              </a:ext>
            </a:extLst>
          </p:cNvPr>
          <p:cNvSpPr/>
          <p:nvPr/>
        </p:nvSpPr>
        <p:spPr>
          <a:xfrm>
            <a:off x="3049480" y="2346874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2</a:t>
            </a:r>
            <a:endParaRPr lang="en-US" b="1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0B8F5037-67E9-E924-AABF-C98FDE2167D8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642306" y="2562317"/>
            <a:ext cx="1453694" cy="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7159580-24FE-0929-8752-952BCD5101FA}"/>
              </a:ext>
            </a:extLst>
          </p:cNvPr>
          <p:cNvSpPr txBox="1"/>
          <p:nvPr/>
        </p:nvSpPr>
        <p:spPr>
          <a:xfrm>
            <a:off x="926731" y="1073439"/>
            <a:ext cx="812781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pt-BR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multe apeluri pot fi executate simultan folosind mecanismele oferite de AsyncIO.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994294-618C-9868-D715-97900FC5061E}"/>
              </a:ext>
            </a:extLst>
          </p:cNvPr>
          <p:cNvSpPr txBox="1"/>
          <p:nvPr/>
        </p:nvSpPr>
        <p:spPr>
          <a:xfrm>
            <a:off x="1037144" y="3876346"/>
            <a:ext cx="10582782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Rezultatele sunt colectate după finalizarea tuturor operațiilor.</a:t>
            </a:r>
          </a:p>
          <a:p>
            <a:pPr marL="76200" lvl="0">
              <a:lnSpc>
                <a:spcPct val="150000"/>
              </a:lnSpc>
              <a:buClr>
                <a:srgbClr val="7F7F7F"/>
              </a:buClr>
              <a:buSzPts val="2400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Beneficii: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timp total mai mic;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throughput mai mare;</a:t>
            </a:r>
          </a:p>
          <a:p>
            <a:pPr marL="361950" lvl="0" indent="-285750">
              <a:lnSpc>
                <a:spcPct val="150000"/>
              </a:lnSpc>
              <a:buClr>
                <a:srgbClr val="7F7F7F"/>
              </a:buClr>
              <a:buSzPts val="2400"/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utilizare eficientă a rețelei.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088385-64FA-4004-2AEC-34A2B155A3DA}"/>
              </a:ext>
            </a:extLst>
          </p:cNvPr>
          <p:cNvSpPr/>
          <p:nvPr/>
        </p:nvSpPr>
        <p:spPr>
          <a:xfrm>
            <a:off x="3049480" y="1665842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1</a:t>
            </a:r>
            <a:endParaRPr lang="en-US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EFD0138-27E0-9AEC-0F7E-20A7180D1684}"/>
              </a:ext>
            </a:extLst>
          </p:cNvPr>
          <p:cNvSpPr/>
          <p:nvPr/>
        </p:nvSpPr>
        <p:spPr>
          <a:xfrm>
            <a:off x="3049480" y="3027721"/>
            <a:ext cx="1592826" cy="43088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Request 3</a:t>
            </a:r>
            <a:endParaRPr lang="en-US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C9701E-625D-C856-124D-E9B5E9FEBCD3}"/>
              </a:ext>
            </a:extLst>
          </p:cNvPr>
          <p:cNvSpPr/>
          <p:nvPr/>
        </p:nvSpPr>
        <p:spPr>
          <a:xfrm>
            <a:off x="6096000" y="2251252"/>
            <a:ext cx="1592826" cy="62213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o-RO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Running Together</a:t>
            </a:r>
            <a:endParaRPr lang="en-US" b="1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2C274CD9-1BEC-79FA-EAB5-BFC182C5D05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4642306" y="1881286"/>
            <a:ext cx="1377740" cy="681031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A4BB1428-FB5D-A494-DB76-E3995FD50114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4642306" y="2562317"/>
            <a:ext cx="1453694" cy="680848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7144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F9F31A85-5BC4-64D6-CFBF-738C67236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B048B996-0E4A-6AEF-48C7-9B80DCC8957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DDC6F88-5D74-5C45-5947-ABF109A788C1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Public APIs for Practice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286952EE-8396-B442-F022-FED9A25D93FC}"/>
              </a:ext>
            </a:extLst>
          </p:cNvPr>
          <p:cNvSpPr txBox="1"/>
          <p:nvPr/>
        </p:nvSpPr>
        <p:spPr>
          <a:xfrm>
            <a:off x="9456277" y="6026553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A67B7A4E-A8D1-1118-71D0-30607A7015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60534AD0-E965-9F0B-94B5-D4079D39F7C4}"/>
              </a:ext>
            </a:extLst>
          </p:cNvPr>
          <p:cNvSpPr txBox="1"/>
          <p:nvPr/>
        </p:nvSpPr>
        <p:spPr>
          <a:xfrm>
            <a:off x="947677" y="912188"/>
            <a:ext cx="8508600" cy="558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JSON Placeholder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API REST pentru teste și prototipuri.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  <a:hlinkClick r:id="rId4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4"/>
              </a:rPr>
              <a:t>https://jsonplaceholder.typicode.com/users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- Returnează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5"/>
              </a:rPr>
              <a:t>https://jsonplaceholder.typicode.com/posts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–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Returneaz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 o listă de postări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PokéAPI</a:t>
            </a:r>
            <a:endParaRPr lang="it-IT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6"/>
              </a:rPr>
              <a:t>https://pokeapi.co/api/v2/pokemon/pikachu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-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Returnează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informații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despre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Pokemon</a:t>
            </a:r>
          </a:p>
          <a:p>
            <a:pPr lvl="0">
              <a:lnSpc>
                <a:spcPct val="150000"/>
              </a:lnSpc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GitHub API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7"/>
              </a:rPr>
              <a:t>https://api.github.com/repos/pallets/flask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-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Returnează informații despre proiect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Random User API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  <a:hlinkClick r:id="rId8"/>
              </a:rPr>
              <a:t>https://randomuser.me/api/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-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Returnează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un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utilizator</a:t>
            </a:r>
            <a:r>
              <a:rPr lang="it-IT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fictiv</a:t>
            </a: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b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5" name="Picture 4" descr="A black rectangular object with white text&#10;&#10;AI-generated content may be incorrect.">
            <a:extLst>
              <a:ext uri="{FF2B5EF4-FFF2-40B4-BE49-F238E27FC236}">
                <a16:creationId xmlns:a16="http://schemas.microsoft.com/office/drawing/2014/main" id="{1D14B024-54DD-7C82-54A3-9791AB14A6D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2237" t="15048" r="11034" b="15994"/>
          <a:stretch>
            <a:fillRect/>
          </a:stretch>
        </p:blipFill>
        <p:spPr>
          <a:xfrm>
            <a:off x="1278384" y="1564581"/>
            <a:ext cx="3071674" cy="1811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04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Înțelegerea și rularea unui API server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2" y="1239378"/>
            <a:ext cx="10346575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a.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schelet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cod care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implementează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API HTTP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simplu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Fără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modifica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analizați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codul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încercați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răspundeți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următoarele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întrebări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rol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are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clasa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definită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exemplu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metodă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este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apelată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atunci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când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serverul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primește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cerere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HTTP GET?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returnează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serverul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către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client?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reprezintă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codul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stare HTTP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adresă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port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ascultă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serverul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?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 se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întâmplă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apelul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serve_forever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()?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b. Porniți aplicația folosind scheletul de cod primit. După pornire, verificați că serverul este accesibil local și răspunde la cereri HTTP. Folosiți browserul sau un client HTTP pentru a accesa endpoint-ul disponibil. Dacă serverul pornește corect, ar trebui să primiți un răspuns în format JSON.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Hint-uri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Serverul trebuie pornit din terminal folosind Python.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Adresa serverului este afișată la pornire.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Browserul poate fi folosit pentru verificarea rapidă a răspunsului.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Dacă portul este deja ocupat, modificați portul și relansați aplicația.</a:t>
            </a:r>
            <a:endParaRPr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8857025B-65C2-FEE1-AFA3-B5823134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304AF4CD-A414-0F27-4D05-24874CCD4BC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55701B66-8A68-4F70-0D44-5E388C47ADE1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D47882C4-116D-D677-AE67-7636CBAAD2C4}"/>
              </a:ext>
            </a:extLst>
          </p:cNvPr>
          <p:cNvSpPr txBox="1"/>
          <p:nvPr/>
        </p:nvSpPr>
        <p:spPr>
          <a:xfrm>
            <a:off x="0" y="327188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2 –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Consumarea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API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mod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sincron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asincron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9444DA25-BBFA-AB4A-8A84-884FCC4CCC8A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94B0223C-4F7B-8C69-FC6A-DBB2CDE2802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97FD8082-F8E7-2EA6-6972-793D6E2C6C8C}"/>
              </a:ext>
            </a:extLst>
          </p:cNvPr>
          <p:cNvSpPr txBox="1"/>
          <p:nvPr/>
        </p:nvSpPr>
        <p:spPr>
          <a:xfrm>
            <a:off x="922712" y="1239378"/>
            <a:ext cx="10346575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Utilizând serverul implementat la exercițiul anterior, implementați două funcții care interoghează endpoint-ul expus de Fake AI. Prima funcție trebuie să realizeze apelul în mod sincron, folosind biblioteca requests. A doua funcție trebuie să realizeze apelul în mod asincron, folosind biblioteca httpx.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 implementarea celor două variante: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efectuați 3 apeluri consecutive folosind implementarea sincronă și măsurați timpul total de execuție;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efectuați 3 apeluri concurente folosind implementarea asincronă și măsurați timpul total de execuție;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comparați rezultatele obținute.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final, afișați: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răspunsurile primite de la server;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timpul total de execuție pentru fiecare variantă.</a:t>
            </a: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Bonus</a:t>
            </a: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Implementați un decorator reutilizabil care măsoară și afișează durata de execuție a unei funcții și utilizați-l pentru cele două scenarii testate.</a:t>
            </a:r>
            <a:endParaRPr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1277991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</Words>
  <Application>Microsoft Office PowerPoint</Application>
  <PresentationFormat>Widescreen</PresentationFormat>
  <Paragraphs>219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Jost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George Flurche</cp:lastModifiedBy>
  <cp:revision>27</cp:revision>
  <dcterms:modified xsi:type="dcterms:W3CDTF">2026-07-12T22:39:10Z</dcterms:modified>
</cp:coreProperties>
</file>